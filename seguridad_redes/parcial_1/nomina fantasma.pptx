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DAD8-15BB-3FF7-8642-6A9865CE2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3E15D-E346-DB6D-566A-12639AB6B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76F43-2D5E-3DF3-39C3-16E87C4AA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809EC-F2B0-B669-CBB4-2682208F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D052C-577E-9066-5029-FB72EE7C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39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0339E-6F5D-F6BE-82E3-5EC9BBF0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60430-F6B7-7DED-8FCC-00E24EF13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B0FA2-594E-DF66-AF5D-A067E6C8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0318E-27A9-D326-74F9-04301CB0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ECB01-E79C-3453-8131-31D0B63B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7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172B-C47A-FE3B-E206-D62B80FB7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E7217-1582-B898-A887-0FDFE4C09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54572-F5D5-7E15-269C-4229F6C18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A4EE6-65DB-92D6-F766-339C5344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B448E-7DD8-20C0-D3A0-A80C10D8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0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D2B9-FEAE-A882-30B5-B7CAED64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7B475-E254-AAED-6779-26DC1E347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26205-C2BE-A8DF-6AC9-321014677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0AA1C-ECD4-F251-D08E-FB2D58D2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70F06-811C-6201-0E00-D2C56A12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80656-1C29-D8D6-DC79-49FA54FA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3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73ACD-36DA-F8A9-0342-559151CA2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93A2A-FD85-9309-E05E-90BB12218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14D02-0432-30C0-DFF4-DB50EC03F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86CA3-97CB-422C-67E2-096A19D86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89B73-31C7-7B60-E573-BAF00FE3C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700BA4-305F-94CF-EFB2-74835C1F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7F997-8959-6234-70A7-A59E0E96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8C14E6-A4D0-58BC-2D10-0F194564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7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DAE21-38E8-70CF-BD23-F3DD4F91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ABC36B-B614-569D-AFE9-65972DF81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D1575-F2FF-9F54-D29B-6833540A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B45E0-FDF6-386A-73B7-C15269EC0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34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D0C30F-E17B-F0BE-E2F6-8FC1E73B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47BD13-A6FC-1360-4E50-EA4967E09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3C8D1-CADD-3C67-443D-C4BA5D63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8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CA7A-A0A3-7C57-7B1F-9C3C1DBD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ABB7F-3885-34F3-4222-16F0A8F24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5047A-CA09-84AF-592B-052DD00CE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B3ABB-E05C-7463-CA5D-268526B08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7DE9F-0C1A-5073-3FCC-E44A89131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0BF6F-FE62-237B-2A88-8A5B2891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4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962E-F4CC-7CF7-DBF3-0E2292EC5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E492B5-9D7D-D640-31CB-F1AF58D2D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F8BCB-853F-88F9-C9BA-DD5AC0927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B733F-1C61-45DE-3DE1-A9B1A4DDE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34382-21B4-2DDA-EE7E-34A037282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63A37-9AA4-0412-252A-665B1245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5928-C178-DB6C-4C54-48FF9B62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E9559-DBDE-255E-4789-0C15CF6EF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A3F0-FE6C-F58E-C59E-DBEF0C08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A5224-ED00-7EBF-EB90-436798DE9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40BF-3C00-08B1-9718-4FB294D6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8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C6D5E1-E9FA-BAC3-613B-D4DE13851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9B1A7-1863-BFD0-9722-13F4C3C27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BDCE5-9899-62B9-4FB3-DAFDD5E6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C6E97-1FAE-DE68-486E-58FF852C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E2959-81FF-D1E8-72C9-73C32C96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04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0F1F8-53B5-9A0E-AB20-DAC4B59F3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86DD9-724D-9D2C-5BA3-2C4FDDCAF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16764-81DA-E91F-B306-EB4D72A8C4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806E1-CC9D-4527-A9CC-74C718E549F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E6530-7123-6113-9295-C0046A011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37DD-00C8-6A8E-A7D9-44CB7577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DCB32-B283-42BA-92C3-BAB3B38A7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9F40-C41E-E78B-9927-B3E6FE022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5353" y="420006"/>
            <a:ext cx="13576589" cy="3066808"/>
          </a:xfrm>
        </p:spPr>
        <p:txBody>
          <a:bodyPr/>
          <a:lstStyle/>
          <a:p>
            <a:r>
              <a:rPr lang="en-US" b="1" dirty="0" err="1"/>
              <a:t>Operación</a:t>
            </a:r>
            <a:r>
              <a:rPr lang="en-US" b="1" dirty="0"/>
              <a:t> "</a:t>
            </a:r>
            <a:r>
              <a:rPr lang="en-US" b="1" dirty="0" err="1"/>
              <a:t>Nómina</a:t>
            </a:r>
            <a:r>
              <a:rPr lang="en-US" b="1" dirty="0"/>
              <a:t> Fantasma"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49616-B41E-3D0F-C928-5B6304083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Alumno: Jorge Parra Hidalgo</a:t>
            </a:r>
          </a:p>
          <a:p>
            <a:r>
              <a:rPr lang="en-US" dirty="0"/>
              <a:t>Matricula: 13104</a:t>
            </a:r>
          </a:p>
          <a:p>
            <a:r>
              <a:rPr lang="en-US" dirty="0" err="1"/>
              <a:t>Docente</a:t>
            </a:r>
            <a:r>
              <a:rPr lang="en-US" dirty="0"/>
              <a:t>: Raul Toledo</a:t>
            </a:r>
          </a:p>
        </p:txBody>
      </p:sp>
      <p:pic>
        <p:nvPicPr>
          <p:cNvPr id="1026" name="Picture 2" descr="Groovy | Fatass teto sketch 🥀 . . . . #teto #bread ...">
            <a:extLst>
              <a:ext uri="{FF2B5EF4-FFF2-40B4-BE49-F238E27FC236}">
                <a16:creationId xmlns:a16="http://schemas.microsoft.com/office/drawing/2014/main" id="{C2C60BD4-F4F6-4657-EE4E-979D77351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13995" cy="2013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ASANE TETO">
            <a:extLst>
              <a:ext uri="{FF2B5EF4-FFF2-40B4-BE49-F238E27FC236}">
                <a16:creationId xmlns:a16="http://schemas.microsoft.com/office/drawing/2014/main" id="{A58B8DBB-C5DD-9BD4-A2EF-A39E96EC1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826643"/>
            <a:ext cx="3610133" cy="203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EXICAN KASANE TETO EATING ELOTE! Hope y'all like it y Feliz 15 de  Septiembre weies! &lt;):{v #kasaneteto #teto #mexico #vocaloid #fanarts #anime">
            <a:extLst>
              <a:ext uri="{FF2B5EF4-FFF2-40B4-BE49-F238E27FC236}">
                <a16:creationId xmlns:a16="http://schemas.microsoft.com/office/drawing/2014/main" id="{E3234B90-30E1-3AC2-1C34-C925A4FAD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4714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hibi Teto ama el pan Póster">
            <a:extLst>
              <a:ext uri="{FF2B5EF4-FFF2-40B4-BE49-F238E27FC236}">
                <a16:creationId xmlns:a16="http://schemas.microsoft.com/office/drawing/2014/main" id="{38361B12-077F-BAD7-8C46-B92E9C6BB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0233" y="0"/>
            <a:ext cx="1875099" cy="2500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826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Kasane Teto Wallpaper Anime 4K | Wallpaper Alchemy">
            <a:extLst>
              <a:ext uri="{FF2B5EF4-FFF2-40B4-BE49-F238E27FC236}">
                <a16:creationId xmlns:a16="http://schemas.microsoft.com/office/drawing/2014/main" id="{B8179A8F-E1C5-4A90-AF8C-CD5615AA6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1864" y="5254906"/>
            <a:ext cx="980135" cy="174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9A6D29-A259-346B-DD4A-E2DEE558F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Fase 1: </a:t>
            </a:r>
            <a:r>
              <a:rPr lang="en-US" dirty="0" err="1"/>
              <a:t>msfconsole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91BA17-61A1-7672-DF91-ED287FCC2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7591" y="1945930"/>
            <a:ext cx="5888956" cy="4546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69FA58-39CA-BDD2-EC10-D3FDC277C69E}"/>
              </a:ext>
            </a:extLst>
          </p:cNvPr>
          <p:cNvSpPr txBox="1"/>
          <p:nvPr/>
        </p:nvSpPr>
        <p:spPr>
          <a:xfrm>
            <a:off x="6747698" y="1327284"/>
            <a:ext cx="487294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En esta fase se inicia la herramienta </a:t>
            </a:r>
            <a:r>
              <a:rPr lang="es-MX" sz="2400" dirty="0" err="1"/>
              <a:t>Metasploit</a:t>
            </a:r>
            <a:r>
              <a:rPr lang="es-MX" sz="2400" dirty="0"/>
              <a:t> mediante el comando:</a:t>
            </a:r>
          </a:p>
          <a:p>
            <a:r>
              <a:rPr lang="es-MX" sz="2400" dirty="0" err="1"/>
              <a:t>Msfconsole</a:t>
            </a:r>
            <a:r>
              <a:rPr lang="es-MX" sz="2400" dirty="0"/>
              <a:t>.</a:t>
            </a:r>
          </a:p>
          <a:p>
            <a:endParaRPr lang="es-MX" sz="2400" dirty="0"/>
          </a:p>
          <a:p>
            <a:r>
              <a:rPr lang="es-MX" sz="2400" dirty="0" err="1"/>
              <a:t>Metasploit</a:t>
            </a:r>
            <a:r>
              <a:rPr lang="es-MX" sz="2400" dirty="0"/>
              <a:t> es un </a:t>
            </a:r>
            <a:r>
              <a:rPr lang="es-MX" sz="2400" dirty="0" err="1"/>
              <a:t>framework</a:t>
            </a:r>
            <a:r>
              <a:rPr lang="es-MX" sz="2400" dirty="0"/>
              <a:t> de pruebas de penetración que permite identificar, explotar y validar vulnerabilidades en sistemas objetivo.</a:t>
            </a:r>
            <a:br>
              <a:rPr lang="es-MX" sz="2400" dirty="0"/>
            </a:br>
            <a:r>
              <a:rPr lang="es-MX" sz="2400" dirty="0"/>
              <a:t>Se utiliza como entorno principal para cargar </a:t>
            </a:r>
            <a:r>
              <a:rPr lang="es-MX" sz="2400" dirty="0" err="1"/>
              <a:t>exploits</a:t>
            </a:r>
            <a:r>
              <a:rPr lang="es-MX" sz="2400" dirty="0"/>
              <a:t> y configurar </a:t>
            </a:r>
            <a:r>
              <a:rPr lang="es-MX" sz="2400" dirty="0" err="1"/>
              <a:t>payloads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1081579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F4383-AA41-2F7E-BDCD-EB22EED60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Identificación de la vulnerabilidad (CVE)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753114-E04B-4B76-5E5B-EC2724A7B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902" y="1860349"/>
            <a:ext cx="5996096" cy="46325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0236F7-3CB2-51E6-86C9-B16884854F5B}"/>
              </a:ext>
            </a:extLst>
          </p:cNvPr>
          <p:cNvSpPr txBox="1"/>
          <p:nvPr/>
        </p:nvSpPr>
        <p:spPr>
          <a:xfrm>
            <a:off x="6852212" y="1780260"/>
            <a:ext cx="48729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Se analiza el servicio o versión del sistema objetivo para identificar una vulnerabilidad específica mediante su código CVE. Esto permite confirmar que existe un </a:t>
            </a:r>
            <a:r>
              <a:rPr lang="es-MX" sz="2400" dirty="0" err="1"/>
              <a:t>exploit</a:t>
            </a:r>
            <a:r>
              <a:rPr lang="es-MX" sz="2400" dirty="0"/>
              <a:t> disponible y que el sistema es potencialmente vulnerable.</a:t>
            </a:r>
          </a:p>
        </p:txBody>
      </p:sp>
      <p:pic>
        <p:nvPicPr>
          <p:cNvPr id="3076" name="Picture 4" descr="Cuál es tu opinión sobre Kasane Teto? : r/Vocaloid">
            <a:extLst>
              <a:ext uri="{FF2B5EF4-FFF2-40B4-BE49-F238E27FC236}">
                <a16:creationId xmlns:a16="http://schemas.microsoft.com/office/drawing/2014/main" id="{602FA1F1-A54E-9236-E043-902B51482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8937" y="4621121"/>
            <a:ext cx="2223063" cy="222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970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4EB1F-C0A8-98D3-DED6-1E4E1F3A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Configuración</a:t>
            </a:r>
            <a:r>
              <a:rPr lang="en-US" dirty="0"/>
              <a:t> del Exploit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362DDC-5B2E-9D23-4C71-71F2F7E4B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8774"/>
            <a:ext cx="5587220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CD05C1-8090-0400-EC76-42CC8E9CDF68}"/>
              </a:ext>
            </a:extLst>
          </p:cNvPr>
          <p:cNvSpPr txBox="1"/>
          <p:nvPr/>
        </p:nvSpPr>
        <p:spPr>
          <a:xfrm>
            <a:off x="6807384" y="1848774"/>
            <a:ext cx="44432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Se selecciona el </a:t>
            </a:r>
            <a:r>
              <a:rPr lang="es-MX" sz="2400" dirty="0" err="1"/>
              <a:t>exploit</a:t>
            </a:r>
            <a:r>
              <a:rPr lang="es-MX" sz="2400" dirty="0"/>
              <a:t> adecuado dentro de </a:t>
            </a:r>
            <a:r>
              <a:rPr lang="es-MX" sz="2400" dirty="0" err="1"/>
              <a:t>Metasploit</a:t>
            </a:r>
            <a:r>
              <a:rPr lang="es-MX" sz="2400" dirty="0"/>
              <a:t> y se configuran los parámetros obligatorios como RHOST, RPORT, LHOST y LPORT. También se define el </a:t>
            </a:r>
            <a:r>
              <a:rPr lang="es-MX" sz="2400" dirty="0" err="1"/>
              <a:t>payload</a:t>
            </a:r>
            <a:r>
              <a:rPr lang="es-MX" sz="2400" dirty="0"/>
              <a:t> que permitirá establecer una conexión remota con la máquina objetivo.</a:t>
            </a:r>
            <a:endParaRPr lang="en-US" sz="2400" dirty="0"/>
          </a:p>
        </p:txBody>
      </p:sp>
      <p:pic>
        <p:nvPicPr>
          <p:cNvPr id="4098" name="Picture 2" descr="Pegatina for Sale con la obra «Kasane Teto» de alienbugg | Redbubble">
            <a:extLst>
              <a:ext uri="{FF2B5EF4-FFF2-40B4-BE49-F238E27FC236}">
                <a16:creationId xmlns:a16="http://schemas.microsoft.com/office/drawing/2014/main" id="{BAD0E6B3-ABB5-23CB-66C8-60F3957C2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609" y="5265094"/>
            <a:ext cx="1755966" cy="175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361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C27B-4679-4C51-85F8-BDBB3D44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15EB-883C-6FAB-0A5A-27CA8EA4D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Preparación</a:t>
            </a:r>
            <a:r>
              <a:rPr lang="en-US" dirty="0"/>
              <a:t> del </a:t>
            </a:r>
            <a:r>
              <a:rPr lang="en-US" dirty="0" err="1"/>
              <a:t>Servidor</a:t>
            </a:r>
            <a:r>
              <a:rPr lang="en-US" dirty="0"/>
              <a:t> </a:t>
            </a:r>
            <a:r>
              <a:rPr lang="en-US" dirty="0" err="1"/>
              <a:t>Atacante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E36FF6-F120-3F0F-0B75-F45055734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345" y="1711478"/>
            <a:ext cx="5203629" cy="45233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121D10-DB4F-F308-24C5-F6C422F148E2}"/>
              </a:ext>
            </a:extLst>
          </p:cNvPr>
          <p:cNvSpPr txBox="1"/>
          <p:nvPr/>
        </p:nvSpPr>
        <p:spPr>
          <a:xfrm>
            <a:off x="6471718" y="1825625"/>
            <a:ext cx="444320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Se configura el entorno del atacante para recibir la conexión reversa. Esto implica preparar el </a:t>
            </a:r>
            <a:r>
              <a:rPr lang="es-MX" sz="2800" dirty="0" err="1"/>
              <a:t>handler</a:t>
            </a:r>
            <a:r>
              <a:rPr lang="es-MX" sz="2800" dirty="0"/>
              <a:t> que escuchará cuando el sistema vulnerable ejecute el </a:t>
            </a:r>
            <a:r>
              <a:rPr lang="es-MX" sz="2800" dirty="0" err="1"/>
              <a:t>payload</a:t>
            </a:r>
            <a:r>
              <a:rPr lang="es-MX" sz="2800" dirty="0"/>
              <a:t>.</a:t>
            </a:r>
            <a:endParaRPr lang="en-US" sz="2800" dirty="0"/>
          </a:p>
        </p:txBody>
      </p:sp>
      <p:pic>
        <p:nvPicPr>
          <p:cNvPr id="5122" name="Picture 2" descr="Teto: Word of the Day Explained">
            <a:extLst>
              <a:ext uri="{FF2B5EF4-FFF2-40B4-BE49-F238E27FC236}">
                <a16:creationId xmlns:a16="http://schemas.microsoft.com/office/drawing/2014/main" id="{A21E6779-CFD2-0BAF-2CAE-49780070A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4222" y="4939439"/>
            <a:ext cx="1437069" cy="19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65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403D4-9B8C-9000-130C-E8F31D152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BBB4-A53F-02E6-913B-6FD21302A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Inicio</a:t>
            </a:r>
            <a:r>
              <a:rPr lang="en-US" dirty="0"/>
              <a:t> del Listener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920CDC-9D32-31E9-BC42-D2542A330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100" y="1690688"/>
            <a:ext cx="5889790" cy="47417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B0A536-645F-A84D-619F-EC9BD5285089}"/>
              </a:ext>
            </a:extLst>
          </p:cNvPr>
          <p:cNvSpPr txBox="1"/>
          <p:nvPr/>
        </p:nvSpPr>
        <p:spPr>
          <a:xfrm>
            <a:off x="6910592" y="1690688"/>
            <a:ext cx="444320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Se activa el módulo </a:t>
            </a:r>
            <a:r>
              <a:rPr lang="es-MX" sz="2800" dirty="0" err="1"/>
              <a:t>exploit</a:t>
            </a:r>
            <a:r>
              <a:rPr lang="es-MX" sz="2800" dirty="0"/>
              <a:t>/multi/</a:t>
            </a:r>
            <a:r>
              <a:rPr lang="es-MX" sz="2800" dirty="0" err="1"/>
              <a:t>handler</a:t>
            </a:r>
            <a:r>
              <a:rPr lang="es-MX" sz="2800" dirty="0"/>
              <a:t> para poner el sistema en modo escucha. El </a:t>
            </a:r>
            <a:r>
              <a:rPr lang="es-MX" sz="2800" dirty="0" err="1"/>
              <a:t>listener</a:t>
            </a:r>
            <a:r>
              <a:rPr lang="es-MX" sz="2800" dirty="0"/>
              <a:t> queda esperando la conexión entrante desde la máquina víctima.</a:t>
            </a:r>
            <a:endParaRPr lang="en-US" sz="2800" dirty="0"/>
          </a:p>
        </p:txBody>
      </p:sp>
      <p:pic>
        <p:nvPicPr>
          <p:cNvPr id="6146" name="Picture 2" descr="Buy 20cm Kasane Teto Plush Toy Soft Doll Stuffed Plushies Figure Anime  Cosplay Cartoon Birthday Present Christmas Gift Online | Kogan.com">
            <a:extLst>
              <a:ext uri="{FF2B5EF4-FFF2-40B4-BE49-F238E27FC236}">
                <a16:creationId xmlns:a16="http://schemas.microsoft.com/office/drawing/2014/main" id="{9F8E8E11-F46A-EEB9-90E4-A29A55FA2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639" y="5167312"/>
            <a:ext cx="2856053" cy="1904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58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09206-CE46-AB78-B918-37B74C5E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7725-62A6-5249-6D57-C0E846F5F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Sistema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Escucha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BEF896-4CE3-BC59-4675-4CACFCFAE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646" y="1860350"/>
            <a:ext cx="5554354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3DDEE3-DB3E-3025-F34F-40B9D3F23D8C}"/>
              </a:ext>
            </a:extLst>
          </p:cNvPr>
          <p:cNvSpPr txBox="1"/>
          <p:nvPr/>
        </p:nvSpPr>
        <p:spPr>
          <a:xfrm>
            <a:off x="6447604" y="1690688"/>
            <a:ext cx="444320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El atacante permanece en estado de espera hasta que el </a:t>
            </a:r>
            <a:r>
              <a:rPr lang="es-MX" sz="2400" dirty="0" err="1"/>
              <a:t>exploit</a:t>
            </a:r>
            <a:r>
              <a:rPr lang="es-MX" sz="2400" dirty="0"/>
              <a:t> se ejecuta correctamente y el objetivo establece la sesión remota.</a:t>
            </a:r>
          </a:p>
          <a:p>
            <a:r>
              <a:rPr lang="es-MX" sz="2400" dirty="0"/>
              <a:t>Una vez obtenida la sesión, se realizan tareas de reconocimiento interno como verificar el usuario actual, revisar permisos y listar directorios. Esto permite entender el nivel de acceso obtenido.</a:t>
            </a:r>
            <a:endParaRPr lang="en-US" sz="2400" dirty="0"/>
          </a:p>
        </p:txBody>
      </p:sp>
      <p:pic>
        <p:nvPicPr>
          <p:cNvPr id="7172" name="Picture 4" descr="teto | Community Playlist on Amazon Music Unlimited">
            <a:extLst>
              <a:ext uri="{FF2B5EF4-FFF2-40B4-BE49-F238E27FC236}">
                <a16:creationId xmlns:a16="http://schemas.microsoft.com/office/drawing/2014/main" id="{DEB3AD6C-8804-9FD6-62D9-A43533D07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975" y="5497975"/>
            <a:ext cx="1360025" cy="136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025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1B76D-EF35-AE9D-4B2E-EF37D86A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Enumeración</a:t>
            </a:r>
            <a:r>
              <a:rPr lang="en-US" dirty="0"/>
              <a:t> del Sistema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305B4A-DA77-8891-3A87-FD0EC8925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756" y="1870365"/>
            <a:ext cx="6449269" cy="44525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93F3D0-A68C-B338-D0B8-96FB6B19026D}"/>
              </a:ext>
            </a:extLst>
          </p:cNvPr>
          <p:cNvSpPr txBox="1"/>
          <p:nvPr/>
        </p:nvSpPr>
        <p:spPr>
          <a:xfrm>
            <a:off x="7292556" y="2332102"/>
            <a:ext cx="44432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Una vez obtenida la sesión, se realizan tareas de reconocimiento interno como verificar el usuario actual, revisar permisos y listar directorios. Esto permite entender el nivel de acceso obtenido.</a:t>
            </a:r>
            <a:endParaRPr lang="en-US" sz="2400" dirty="0"/>
          </a:p>
        </p:txBody>
      </p:sp>
      <p:pic>
        <p:nvPicPr>
          <p:cNvPr id="8194" name="Picture 2" descr="Kasane Teto Character Vocal Series Nendoroid - FRIKANIME">
            <a:extLst>
              <a:ext uri="{FF2B5EF4-FFF2-40B4-BE49-F238E27FC236}">
                <a16:creationId xmlns:a16="http://schemas.microsoft.com/office/drawing/2014/main" id="{1A2DB20F-9CA0-602F-46AE-079F323FA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19" y="5096839"/>
            <a:ext cx="1761161" cy="176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933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63093-E7A2-9DF6-5D43-0613ADD6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ED2CF-A33B-D3B5-DC11-DC8518866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Buscando bandera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B9A7E6-E681-1BEF-3FA7-64CBB988A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453901" cy="4351338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AEBADF-A0C5-77C3-E34E-E5DA8E6CAB83}"/>
              </a:ext>
            </a:extLst>
          </p:cNvPr>
          <p:cNvSpPr txBox="1"/>
          <p:nvPr/>
        </p:nvSpPr>
        <p:spPr>
          <a:xfrm>
            <a:off x="6507867" y="1690688"/>
            <a:ext cx="43723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Se navega por el sistema de archivos utilizando comandos básicos para localizar archivos sensibles o la bandera del reto, comúnmente almacenada en directorios de usuario o archivos de texto.</a:t>
            </a:r>
            <a:endParaRPr lang="en-US" sz="2800" dirty="0"/>
          </a:p>
        </p:txBody>
      </p:sp>
      <p:pic>
        <p:nvPicPr>
          <p:cNvPr id="9218" name="Picture 2" descr="Kasane Teto set to join Good Smile Company's POP UP PARADE L Size line">
            <a:extLst>
              <a:ext uri="{FF2B5EF4-FFF2-40B4-BE49-F238E27FC236}">
                <a16:creationId xmlns:a16="http://schemas.microsoft.com/office/drawing/2014/main" id="{6193207D-CFDE-9463-63C6-39200B8EE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9716" y="5563121"/>
            <a:ext cx="2312284" cy="129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578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B7AD9-7FB3-D366-51F4-92B95BDDB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Bandera </a:t>
            </a:r>
            <a:r>
              <a:rPr lang="en-US" dirty="0" err="1"/>
              <a:t>Encontrada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01F898-6CAF-6277-AD8E-2649999F4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4" t="24153" r="5352" b="2308"/>
          <a:stretch>
            <a:fillRect/>
          </a:stretch>
        </p:blipFill>
        <p:spPr bwMode="auto">
          <a:xfrm>
            <a:off x="300428" y="1973287"/>
            <a:ext cx="6482828" cy="35676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BD5734-5B0B-583D-4617-C216AE86A675}"/>
              </a:ext>
            </a:extLst>
          </p:cNvPr>
          <p:cNvSpPr txBox="1"/>
          <p:nvPr/>
        </p:nvSpPr>
        <p:spPr>
          <a:xfrm>
            <a:off x="7211533" y="2424700"/>
            <a:ext cx="44432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Se logra identificar y visualizar la bandera dentro del sistema comprometido, confirmando que la explotación fue exitosa y que se obtuvo acceso funcional al objetivo.</a:t>
            </a:r>
            <a:endParaRPr lang="en-US" sz="2400" dirty="0"/>
          </a:p>
        </p:txBody>
      </p:sp>
      <p:pic>
        <p:nvPicPr>
          <p:cNvPr id="10242" name="Picture 2" descr="Teto Kasane Teto Sticker - Teto Kasane teto Vocaloid - Discover &amp; Share GIFs">
            <a:extLst>
              <a:ext uri="{FF2B5EF4-FFF2-40B4-BE49-F238E27FC236}">
                <a16:creationId xmlns:a16="http://schemas.microsoft.com/office/drawing/2014/main" id="{62C29BDD-0EE7-5932-B719-E58A2C1E1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4733024"/>
            <a:ext cx="18288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784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363BA-14CC-E2BB-B8EE-9018A2ED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gracias</a:t>
            </a:r>
            <a:endParaRPr lang="en-US" dirty="0"/>
          </a:p>
        </p:txBody>
      </p:sp>
      <p:pic>
        <p:nvPicPr>
          <p:cNvPr id="4" name="Picture 4" descr="KASANE TETO">
            <a:extLst>
              <a:ext uri="{FF2B5EF4-FFF2-40B4-BE49-F238E27FC236}">
                <a16:creationId xmlns:a16="http://schemas.microsoft.com/office/drawing/2014/main" id="{59B5E306-4381-E238-27B5-FF23016842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679" y="1549509"/>
            <a:ext cx="9220321" cy="518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811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371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Operación "Nómina Fantasma"</vt:lpstr>
      <vt:lpstr>Fase 1: msfconsole</vt:lpstr>
      <vt:lpstr>Identificación de la vulnerabilidad (CVE)</vt:lpstr>
      <vt:lpstr>Configuración del Exploit</vt:lpstr>
      <vt:lpstr>Preparación del Servidor Atacante</vt:lpstr>
      <vt:lpstr>Inicio del Listener</vt:lpstr>
      <vt:lpstr>Sistema en Escucha</vt:lpstr>
      <vt:lpstr>Enumeración del Sistema</vt:lpstr>
      <vt:lpstr>Buscando bandera</vt:lpstr>
      <vt:lpstr>Bandera Encontrada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Parra Hidalgo</dc:creator>
  <cp:lastModifiedBy>Jorge Parra Hidalgo</cp:lastModifiedBy>
  <cp:revision>1</cp:revision>
  <dcterms:created xsi:type="dcterms:W3CDTF">2026-02-17T00:05:46Z</dcterms:created>
  <dcterms:modified xsi:type="dcterms:W3CDTF">2026-02-17T02:28:42Z</dcterms:modified>
</cp:coreProperties>
</file>