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>
        <p:scale>
          <a:sx n="80" d="100"/>
          <a:sy n="80" d="100"/>
        </p:scale>
        <p:origin x="97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25B773-B1FA-4889-A50D-B8C1F3FEB09E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467890-E52E-42A8-9A64-DE42DC906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249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67890-E52E-42A8-9A64-DE42DC9064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889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67890-E52E-42A8-9A64-DE42DC90640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842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B4A18-4C6C-F8D6-C745-562FC94A61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98BEB2-EA17-D838-B96A-C5996A64A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1A394-0291-2CE1-DACB-6A629A886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51E80-0A50-451A-AD17-0AA850D920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4D341-EAC8-983E-7C7C-9CBCAA34E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3AD14-373C-1658-A4C6-1E59243F6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0A34-B57E-4B8F-8D57-EC236DFD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15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1C7E2-4D25-754E-7684-3DF70A970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51C0F-F177-214E-6050-9CF5B6E43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C5E57-9333-2488-14BB-A0FD88AA7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51E80-0A50-451A-AD17-0AA850D920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518ED-DCD5-BEB9-9BCA-81EEB6E6E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4F4F6-24A8-BA58-E4B7-D5792271C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0A34-B57E-4B8F-8D57-EC236DFD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47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C4B32-98DE-06B3-6C68-B23F2E9EB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AD8B7-41E4-716E-3B56-1E2E4585B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1C327-B9B9-B6F2-DF1A-FB29084E9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51E80-0A50-451A-AD17-0AA850D920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13F02-03F7-AEE3-7A65-CFDC4AAF1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B2661-433B-4119-219F-550E1D5E1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0A34-B57E-4B8F-8D57-EC236DFD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22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CFB6F-7F36-98EB-E5E8-17A6CDAEF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5E714-56BF-1C84-E3B9-4CD8CFAF7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0CFB6-BBFF-0CF4-A1FC-C0E7F01BE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8B480-F190-AE5C-0064-D3C3B7208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51E80-0A50-451A-AD17-0AA850D920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C1020-EA8F-FF59-BF84-801823075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939A31-F4EA-727B-5366-D23ECECA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0A34-B57E-4B8F-8D57-EC236DFD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081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08D69-9B9D-C5E0-A74B-1A6532E40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AF965-B5CE-7704-D591-A1D2C7CC2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36DCDD-690B-BBC4-9D8B-C10E94B33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F81EF0-92E7-6CC5-385C-7DC9F96DFF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0CA740-0649-1AE4-E02C-FA41248CD6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C2BC01-7B8C-9C76-34DE-55F6BE8FA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51E80-0A50-451A-AD17-0AA850D920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58B4E7-8939-530D-3EA6-70AA90CFE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92626B-36B8-1A27-A1E5-5F35B4D31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0A34-B57E-4B8F-8D57-EC236DFD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732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7F480-B452-D525-0E33-041575B14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50B6E-BCE6-3DF2-837B-7F5D626C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51E80-0A50-451A-AD17-0AA850D920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117F8-F138-A7BC-8452-9CFEA08ED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CB4855-52D0-DCCD-BE1A-15AB2A4D0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0A34-B57E-4B8F-8D57-EC236DFD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349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92BBD-B4B8-8D9F-2CC6-7251AC386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51E80-0A50-451A-AD17-0AA850D920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461314-C3F6-29A9-27C7-A08CED404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B183E-92C4-F8BF-0ED0-D93AC5F71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0A34-B57E-4B8F-8D57-EC236DFD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29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67902-1265-45B6-9D7C-7EA85B6AC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1B542-95DD-B455-12D4-DC953BA81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20A1A-D554-2163-ABF6-0BFE4CDD0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EA6F5-D6AF-C206-2632-9E7CB25F4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51E80-0A50-451A-AD17-0AA850D920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A9261-0095-EBB8-0705-9A58FBDAF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193F5E-5CCC-9B82-1E10-53720488E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0A34-B57E-4B8F-8D57-EC236DFD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22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78989-93FF-2435-2142-A87BF3B28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31EEE-2473-BB1A-656E-97B13C0256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83D0A-8D19-7641-C827-BF67CED47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F0833-8AAF-42AC-1607-F40E87E48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51E80-0A50-451A-AD17-0AA850D920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C6704-7EB4-F052-B846-FD75EF870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6A0E3-C15C-64FC-E416-4F98D281A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0A34-B57E-4B8F-8D57-EC236DFD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847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83819-18F7-BD08-9267-9B16434F5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EB9319-733D-141E-837D-FC7FBB524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EA534-E88C-D43C-9369-D8F67DE15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51E80-0A50-451A-AD17-0AA850D920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78C49-4DCD-16C9-F507-7CD5A8B36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218C1-4621-E31D-B8A4-8E4D13B2B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0A34-B57E-4B8F-8D57-EC236DFD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668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9F7E7F-5A50-73ED-0AD1-D464BB1D3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229D0-AFD8-8264-AB23-5E24BA465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F9D47-DBA2-BD94-1338-933258936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51E80-0A50-451A-AD17-0AA850D920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EA5BD-1360-FF9F-7BD4-25DBE2D00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C8102-B556-6F20-98AD-0C383A2C0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D0A34-B57E-4B8F-8D57-EC236DFD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5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26D4D1-CD81-8338-D677-F0B86AE06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48152-8380-DDDA-AB55-FA6DF165D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0C9A0-F6C3-A6AB-FD6E-E61BEF50B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E51E80-0A50-451A-AD17-0AA850D920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6D191-E9DB-3840-1372-7D9EA671E9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F8E3B-593D-887F-D45A-5A195415F6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5D0A34-B57E-4B8F-8D57-EC236DFD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8F27B-F335-A45E-F82F-CAFB090699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Practica 03 </a:t>
            </a:r>
            <a:r>
              <a:rPr lang="en-US" b="1" dirty="0" err="1"/>
              <a:t>Ramsonware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82E2E-D650-7093-C2D8-1D9F9C54DB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Alumno: Jorge Parra Hidalgo </a:t>
            </a:r>
          </a:p>
          <a:p>
            <a:r>
              <a:rPr lang="pt-BR" dirty="0"/>
              <a:t>Matricula: 13104 </a:t>
            </a:r>
          </a:p>
          <a:p>
            <a:r>
              <a:rPr lang="pt-BR" dirty="0"/>
              <a:t>Docente: Raul Toledo</a:t>
            </a:r>
            <a:endParaRPr lang="en-US" dirty="0"/>
          </a:p>
        </p:txBody>
      </p:sp>
      <p:pic>
        <p:nvPicPr>
          <p:cNvPr id="1028" name="Picture 4" descr="✨💙🩵Hatsune ijole🩵💙✨ Amo demasiado esa imagen hahahahhaa #gomimori  #hatsunemiku #vocaloidfanart #vocaloidmiku #catmeme #kawaiiart">
            <a:extLst>
              <a:ext uri="{FF2B5EF4-FFF2-40B4-BE49-F238E27FC236}">
                <a16:creationId xmlns:a16="http://schemas.microsoft.com/office/drawing/2014/main" id="{CD26CD62-74BD-A906-D4EF-F3E21882B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126" y="3858126"/>
            <a:ext cx="2999874" cy="2999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5620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90647-5AD5-254C-FD8D-6B8E59940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Acceso</a:t>
            </a:r>
            <a:r>
              <a:rPr lang="en-US" dirty="0"/>
              <a:t> </a:t>
            </a:r>
            <a:r>
              <a:rPr lang="en-US" dirty="0" err="1"/>
              <a:t>Inicial</a:t>
            </a:r>
            <a:r>
              <a:rPr lang="en-US" dirty="0"/>
              <a:t> </a:t>
            </a:r>
            <a:r>
              <a:rPr lang="en-US" dirty="0" err="1"/>
              <a:t>Comprometido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20207-6C63-2C9E-04D6-162D68B46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2603" y="2013995"/>
            <a:ext cx="4131197" cy="4162968"/>
          </a:xfrm>
        </p:spPr>
        <p:txBody>
          <a:bodyPr>
            <a:normAutofit/>
          </a:bodyPr>
          <a:lstStyle/>
          <a:p>
            <a:r>
              <a:rPr lang="es-MX" dirty="0"/>
              <a:t>Se obtuvo acceso remoto al sistema Windows mediante explotación previa. Se confirmó control total a través de una sesión activa de </a:t>
            </a:r>
            <a:r>
              <a:rPr lang="es-MX" dirty="0" err="1"/>
              <a:t>Meterpreter</a:t>
            </a:r>
            <a:r>
              <a:rPr lang="es-MX" dirty="0"/>
              <a:t>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3CA743-9085-6E93-4036-4B25AD9DA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36" y="1603191"/>
            <a:ext cx="6043075" cy="4796984"/>
          </a:xfrm>
          <a:prstGeom prst="rect">
            <a:avLst/>
          </a:prstGeom>
        </p:spPr>
      </p:pic>
      <p:pic>
        <p:nvPicPr>
          <p:cNvPr id="2050" name="Picture 2" descr="Hatsune Miku es el ícono de la temporada 7 de Fortnite Festival!">
            <a:extLst>
              <a:ext uri="{FF2B5EF4-FFF2-40B4-BE49-F238E27FC236}">
                <a16:creationId xmlns:a16="http://schemas.microsoft.com/office/drawing/2014/main" id="{68D43712-8226-DD4E-FF89-F14279757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2547" y="5378367"/>
            <a:ext cx="2839453" cy="1597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1678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6190B-5DC3-4F92-EDC6-5F1B42807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B70D4-21E7-3461-83F2-2465762D0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Preparación del Script de </a:t>
            </a:r>
            <a:r>
              <a:rPr lang="es-MX" dirty="0" err="1"/>
              <a:t>Ransomware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42A53-4DF9-FACC-93CB-127D1E5A2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2603" y="2013995"/>
            <a:ext cx="4131197" cy="4162968"/>
          </a:xfrm>
        </p:spPr>
        <p:txBody>
          <a:bodyPr>
            <a:normAutofit/>
          </a:bodyPr>
          <a:lstStyle/>
          <a:p>
            <a:r>
              <a:rPr lang="es-MX" dirty="0"/>
              <a:t>Se desarrolló el archivo simulador_ransom.ps1, el cual simula el comportamiento de un </a:t>
            </a:r>
            <a:r>
              <a:rPr lang="es-MX" dirty="0" err="1"/>
              <a:t>ransomware</a:t>
            </a:r>
            <a:r>
              <a:rPr lang="es-MX" dirty="0"/>
              <a:t> mediante codificación Base64, renombrado de archivos y creación de nota de rescate.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263F4-7FA1-F937-6F55-DADFA245A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45924"/>
            <a:ext cx="5128846" cy="39717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A3558F-B950-6E49-DF31-C25B5CEB3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90688"/>
            <a:ext cx="3311769" cy="1081932"/>
          </a:xfrm>
          <a:prstGeom prst="rect">
            <a:avLst/>
          </a:prstGeom>
        </p:spPr>
      </p:pic>
      <p:pic>
        <p:nvPicPr>
          <p:cNvPr id="3074" name="Picture 2" descr="❛ hatsune miku ❜">
            <a:extLst>
              <a:ext uri="{FF2B5EF4-FFF2-40B4-BE49-F238E27FC236}">
                <a16:creationId xmlns:a16="http://schemas.microsoft.com/office/drawing/2014/main" id="{0F9615FF-0ED3-BAB9-0BC9-A7D29BAA4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312" y="5167312"/>
            <a:ext cx="1690688" cy="1690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8816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090E1-9191-5A11-4D02-009EBE41B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F1C14-838D-C7E9-335A-2772D287E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Transferencia del </a:t>
            </a:r>
            <a:r>
              <a:rPr lang="es-MX" dirty="0" err="1"/>
              <a:t>Payload</a:t>
            </a:r>
            <a:r>
              <a:rPr lang="es-MX" dirty="0"/>
              <a:t> a la Víctima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8C7A5-0469-6EBF-FC7D-8E2CEE37A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2603" y="2013995"/>
            <a:ext cx="4131197" cy="4162968"/>
          </a:xfrm>
        </p:spPr>
        <p:txBody>
          <a:bodyPr>
            <a:normAutofit/>
          </a:bodyPr>
          <a:lstStyle/>
          <a:p>
            <a:r>
              <a:rPr lang="es-MX" dirty="0"/>
              <a:t>El script fue cargado al sistema comprometido utilizando el canal activo de </a:t>
            </a:r>
            <a:r>
              <a:rPr lang="es-MX" dirty="0" err="1"/>
              <a:t>Meterpreter</a:t>
            </a:r>
            <a:r>
              <a:rPr lang="es-MX" dirty="0"/>
              <a:t>, ubicándolo en el directorio público del sistema.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D5B071-A9E4-C430-A36E-70B4A7837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51476"/>
            <a:ext cx="6276975" cy="4810125"/>
          </a:xfrm>
          <a:prstGeom prst="rect">
            <a:avLst/>
          </a:prstGeom>
        </p:spPr>
      </p:pic>
      <p:pic>
        <p:nvPicPr>
          <p:cNvPr id="4098" name="Picture 2" descr="Vocaloid México (@vocaloidmx) • Facebook">
            <a:extLst>
              <a:ext uri="{FF2B5EF4-FFF2-40B4-BE49-F238E27FC236}">
                <a16:creationId xmlns:a16="http://schemas.microsoft.com/office/drawing/2014/main" id="{AF10DD99-7BE4-A12A-F4F7-BF446FCB0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643" y="5007643"/>
            <a:ext cx="1850357" cy="1850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3359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5E51D-F5C2-8966-744E-2197B02DF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1993C-AD30-7DBF-DBA2-DB3428011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Ejecución con Evasión de Seguridad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8BB8E-99E1-3A3A-32A9-368132888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2603" y="2013995"/>
            <a:ext cx="4131197" cy="4162968"/>
          </a:xfrm>
        </p:spPr>
        <p:txBody>
          <a:bodyPr>
            <a:normAutofit/>
          </a:bodyPr>
          <a:lstStyle/>
          <a:p>
            <a:r>
              <a:rPr lang="es-MX" dirty="0"/>
              <a:t>Se ejecutó el script mediante PowerShell utilizando el parámetro -</a:t>
            </a:r>
            <a:r>
              <a:rPr lang="es-MX" dirty="0" err="1"/>
              <a:t>ExecutionPolicy</a:t>
            </a:r>
            <a:r>
              <a:rPr lang="es-MX" dirty="0"/>
              <a:t> Bypass para evitar restricciones de ejecución de scripts no firmados.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C51468-9377-69FA-A26B-71C6E76FE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58" y="1555833"/>
            <a:ext cx="6416842" cy="4997448"/>
          </a:xfrm>
          <a:prstGeom prst="rect">
            <a:avLst/>
          </a:prstGeom>
        </p:spPr>
      </p:pic>
      <p:pic>
        <p:nvPicPr>
          <p:cNvPr id="5122" name="Picture 2" descr="Kimi no Naka - música y letra de Hatsune Miku, Fumo Miku | Spotify">
            <a:extLst>
              <a:ext uri="{FF2B5EF4-FFF2-40B4-BE49-F238E27FC236}">
                <a16:creationId xmlns:a16="http://schemas.microsoft.com/office/drawing/2014/main" id="{85256018-5077-3171-641A-73C72FE6B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6510" y="5012510"/>
            <a:ext cx="1845490" cy="1845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3466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2FAD9-7F3A-31DE-B208-B1A98B5D8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E477A-89A2-8F4A-8F0B-BAD7433A7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Secuestro</a:t>
            </a:r>
            <a:r>
              <a:rPr lang="en-US" dirty="0"/>
              <a:t> </a:t>
            </a:r>
            <a:r>
              <a:rPr lang="en-US" dirty="0" err="1"/>
              <a:t>Simulado</a:t>
            </a:r>
            <a:r>
              <a:rPr lang="en-US" dirty="0"/>
              <a:t> de </a:t>
            </a:r>
            <a:r>
              <a:rPr lang="en-US" dirty="0" err="1"/>
              <a:t>Archivos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03E31-219E-2598-B1D3-85B1F5123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09959" y="716488"/>
            <a:ext cx="2691063" cy="4162968"/>
          </a:xfrm>
        </p:spPr>
        <p:txBody>
          <a:bodyPr>
            <a:normAutofit fontScale="92500" lnSpcReduction="10000"/>
          </a:bodyPr>
          <a:lstStyle/>
          <a:p>
            <a:r>
              <a:rPr lang="es-MX" dirty="0"/>
              <a:t>El script procesó archivos en la carpeta objetivo, modificando su contenido y cambiando la extensión a .LOCKED, simulando un cifrado.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FE5ED2-7440-7A4D-2893-9B0EF4381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78" y="1823393"/>
            <a:ext cx="8512390" cy="4365602"/>
          </a:xfrm>
          <a:prstGeom prst="rect">
            <a:avLst/>
          </a:prstGeom>
        </p:spPr>
      </p:pic>
      <p:pic>
        <p:nvPicPr>
          <p:cNvPr id="7172" name="Picture 4" descr="What Anime is Miku From? Hatsune Miku Explained – Blokees">
            <a:extLst>
              <a:ext uri="{FF2B5EF4-FFF2-40B4-BE49-F238E27FC236}">
                <a16:creationId xmlns:a16="http://schemas.microsoft.com/office/drawing/2014/main" id="{EE3FB08A-F863-A5F4-F1A5-2A14C9BC0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0937" y="5344277"/>
            <a:ext cx="2691063" cy="1513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1770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90DDF-B1ED-B91D-A8BD-1CE21F667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375C9-A744-2A08-646A-704991170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Generación de Nota de Rescate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3C956-DF98-2F10-7F0E-70774A073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2603" y="2013995"/>
            <a:ext cx="4131197" cy="4162968"/>
          </a:xfrm>
        </p:spPr>
        <p:txBody>
          <a:bodyPr>
            <a:normAutofit/>
          </a:bodyPr>
          <a:lstStyle/>
          <a:p>
            <a:r>
              <a:rPr lang="es-MX" dirty="0"/>
              <a:t>Se creó automáticamente el archivo LEEME_PARA_RECUPERAR.txt con instrucciones simuladas para recuperación de archivos.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7A29F1-20EC-AAD5-2BC8-44DEAC60B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33" y="2159612"/>
            <a:ext cx="6905470" cy="2538776"/>
          </a:xfrm>
          <a:prstGeom prst="rect">
            <a:avLst/>
          </a:prstGeom>
        </p:spPr>
      </p:pic>
      <p:pic>
        <p:nvPicPr>
          <p:cNvPr id="8196" name="Picture 4" descr="Hatsune Miku tendrá su propia película anime">
            <a:extLst>
              <a:ext uri="{FF2B5EF4-FFF2-40B4-BE49-F238E27FC236}">
                <a16:creationId xmlns:a16="http://schemas.microsoft.com/office/drawing/2014/main" id="{8F67C673-0781-EC9C-6BB4-393784DF5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864" y="5396063"/>
            <a:ext cx="2598999" cy="1461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1425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5750E-17F0-8E70-ADCF-2CF28B27D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CFB4B-C662-D3C9-581D-A7A396FD0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Evidencia</a:t>
            </a:r>
            <a:r>
              <a:rPr lang="en-US" dirty="0"/>
              <a:t> </a:t>
            </a:r>
            <a:r>
              <a:rPr lang="en-US" dirty="0" err="1"/>
              <a:t>Forense</a:t>
            </a:r>
            <a:r>
              <a:rPr lang="en-US" dirty="0"/>
              <a:t> del Impacto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E7076-747E-B95D-4A43-AAF5F755D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2603" y="2013995"/>
            <a:ext cx="4131197" cy="4162968"/>
          </a:xfrm>
        </p:spPr>
        <p:txBody>
          <a:bodyPr>
            <a:normAutofit/>
          </a:bodyPr>
          <a:lstStyle/>
          <a:p>
            <a:r>
              <a:rPr lang="es-MX" dirty="0"/>
              <a:t>Desde la </a:t>
            </a:r>
            <a:r>
              <a:rPr lang="es-MX" dirty="0" err="1"/>
              <a:t>shell</a:t>
            </a:r>
            <a:r>
              <a:rPr lang="es-MX" dirty="0"/>
              <a:t> remota se verificó la modificación masiva de archivos, confirmando el impacto del script en el sistema.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3759B1-8342-763D-A305-7D913EB3C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74" y="2249187"/>
            <a:ext cx="6296904" cy="3105583"/>
          </a:xfrm>
          <a:prstGeom prst="rect">
            <a:avLst/>
          </a:prstGeom>
        </p:spPr>
      </p:pic>
      <p:pic>
        <p:nvPicPr>
          <p:cNvPr id="6146" name="Picture 2" descr="Dai Kirai GIF - Dai Kirai Daidaidaidaidaikirai - Discover &amp; Share GIFs">
            <a:extLst>
              <a:ext uri="{FF2B5EF4-FFF2-40B4-BE49-F238E27FC236}">
                <a16:creationId xmlns:a16="http://schemas.microsoft.com/office/drawing/2014/main" id="{F481A739-143B-A286-4DEA-0401C3DDF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3738" y="4271211"/>
            <a:ext cx="1338262" cy="2371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6169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00D6E-709D-AD3D-B37A-A7CAA059E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5F7CB-428C-6131-F571-F99196E6F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Análisis</a:t>
            </a:r>
            <a:r>
              <a:rPr lang="en-US" dirty="0"/>
              <a:t> Técnico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09C8B-EC44-F621-DA6A-D8C903A16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579" y="2013995"/>
            <a:ext cx="10752221" cy="4162968"/>
          </a:xfrm>
        </p:spPr>
        <p:txBody>
          <a:bodyPr>
            <a:normAutofit fontScale="70000" lnSpcReduction="20000"/>
          </a:bodyPr>
          <a:lstStyle/>
          <a:p>
            <a:r>
              <a:rPr lang="es-MX" b="1" dirty="0"/>
              <a:t>Uso de PowerShell como herramienta de ataque</a:t>
            </a:r>
          </a:p>
          <a:p>
            <a:r>
              <a:rPr lang="es-MX" dirty="0"/>
              <a:t>El atacante utilizó </a:t>
            </a:r>
            <a:r>
              <a:rPr lang="es-MX" b="1" dirty="0"/>
              <a:t>PowerShell</a:t>
            </a:r>
            <a:r>
              <a:rPr lang="es-MX" dirty="0"/>
              <a:t>, una herramienta nativa de Windows, para ejecutar el script malicioso sin necesidad de instalar software adicional.</a:t>
            </a:r>
          </a:p>
          <a:p>
            <a:r>
              <a:rPr lang="es-MX" dirty="0"/>
              <a:t>Esto corresponde a la técnica conocida como:</a:t>
            </a:r>
          </a:p>
          <a:p>
            <a:r>
              <a:rPr lang="es-MX" b="1" dirty="0"/>
              <a:t>Living off </a:t>
            </a:r>
            <a:r>
              <a:rPr lang="es-MX" b="1" dirty="0" err="1"/>
              <a:t>the</a:t>
            </a:r>
            <a:r>
              <a:rPr lang="es-MX" b="1" dirty="0"/>
              <a:t> </a:t>
            </a:r>
            <a:r>
              <a:rPr lang="es-MX" b="1" dirty="0" err="1"/>
              <a:t>Land</a:t>
            </a:r>
            <a:r>
              <a:rPr lang="es-MX" b="1" dirty="0"/>
              <a:t> (</a:t>
            </a:r>
            <a:r>
              <a:rPr lang="es-MX" b="1" dirty="0" err="1"/>
              <a:t>LotL</a:t>
            </a:r>
            <a:r>
              <a:rPr lang="es-MX" b="1" dirty="0"/>
              <a:t>)</a:t>
            </a:r>
            <a:endParaRPr lang="es-MX" dirty="0"/>
          </a:p>
          <a:p>
            <a:r>
              <a:rPr lang="es-MX" dirty="0"/>
              <a:t>Es decir, usar herramientas legítimas del sistema para realizar acciones maliciosas, reduciendo la probabilidad de detección basada en firmas tradicionales.</a:t>
            </a:r>
          </a:p>
          <a:p>
            <a:r>
              <a:rPr lang="es-MX" dirty="0"/>
              <a:t>PowerShell permite:</a:t>
            </a:r>
          </a:p>
          <a:p>
            <a:r>
              <a:rPr lang="es-MX" dirty="0"/>
              <a:t>Acceso a archivos</a:t>
            </a:r>
          </a:p>
          <a:p>
            <a:r>
              <a:rPr lang="es-MX" dirty="0"/>
              <a:t>Modificación de contenido</a:t>
            </a:r>
          </a:p>
          <a:p>
            <a:r>
              <a:rPr lang="es-MX" dirty="0"/>
              <a:t>Manipulación del registro</a:t>
            </a:r>
          </a:p>
          <a:p>
            <a:r>
              <a:rPr lang="es-MX" dirty="0"/>
              <a:t>Ejecución remota</a:t>
            </a:r>
          </a:p>
          <a:p>
            <a:r>
              <a:rPr lang="es-MX" dirty="0"/>
              <a:t>Automatización masiva</a:t>
            </a:r>
          </a:p>
          <a:p>
            <a:endParaRPr lang="en-US" dirty="0"/>
          </a:p>
        </p:txBody>
      </p:sp>
      <p:pic>
        <p:nvPicPr>
          <p:cNvPr id="9220" name="Picture 4" descr="How to Draw Hatsune Miku - Really Easy Drawing Tutorial">
            <a:extLst>
              <a:ext uri="{FF2B5EF4-FFF2-40B4-BE49-F238E27FC236}">
                <a16:creationId xmlns:a16="http://schemas.microsoft.com/office/drawing/2014/main" id="{2639DD22-507C-B839-8951-6B8279EF0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6984" y="4560834"/>
            <a:ext cx="2705016" cy="240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5743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1B9D1-EF55-DC84-4200-4BCF41386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DAA1D-8A0D-E1AE-FEFF-D3053C87C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Evasión</a:t>
            </a:r>
            <a:r>
              <a:rPr lang="en-US" dirty="0"/>
              <a:t> </a:t>
            </a:r>
            <a:r>
              <a:rPr lang="en-US" dirty="0" err="1"/>
              <a:t>mediante</a:t>
            </a:r>
            <a:r>
              <a:rPr lang="en-US" dirty="0"/>
              <a:t> -</a:t>
            </a:r>
            <a:r>
              <a:rPr lang="en-US" dirty="0" err="1"/>
              <a:t>ExecutionPolicy</a:t>
            </a:r>
            <a:r>
              <a:rPr lang="en-US" dirty="0"/>
              <a:t> Bypass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DA978-ACA8-DBF4-4980-5252938B7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013995"/>
            <a:ext cx="10515600" cy="4162968"/>
          </a:xfrm>
        </p:spPr>
        <p:txBody>
          <a:bodyPr>
            <a:normAutofit lnSpcReduction="10000"/>
          </a:bodyPr>
          <a:lstStyle/>
          <a:p>
            <a:r>
              <a:rPr lang="es-MX" dirty="0"/>
              <a:t>Windows posee una política de seguridad que restringe la ejecución de scripts no firmados.</a:t>
            </a:r>
          </a:p>
          <a:p>
            <a:r>
              <a:rPr lang="es-MX" dirty="0"/>
              <a:t>El parámetro:</a:t>
            </a:r>
          </a:p>
          <a:p>
            <a:r>
              <a:rPr lang="es-MX" dirty="0"/>
              <a:t>-</a:t>
            </a:r>
            <a:r>
              <a:rPr lang="es-MX" dirty="0" err="1"/>
              <a:t>ExecutionPolicy</a:t>
            </a:r>
            <a:r>
              <a:rPr lang="es-MX" dirty="0"/>
              <a:t> Bypass</a:t>
            </a:r>
          </a:p>
          <a:p>
            <a:r>
              <a:rPr lang="es-MX" dirty="0"/>
              <a:t>Permite:</a:t>
            </a:r>
          </a:p>
          <a:p>
            <a:r>
              <a:rPr lang="es-MX" dirty="0"/>
              <a:t>Ignorar temporalmente la política de ejecución</a:t>
            </a:r>
          </a:p>
          <a:p>
            <a:r>
              <a:rPr lang="es-MX" dirty="0"/>
              <a:t>Ejecutar scripts sin modificar la configuración global del sistema</a:t>
            </a:r>
          </a:p>
          <a:p>
            <a:r>
              <a:rPr lang="es-MX" dirty="0"/>
              <a:t>Esto es una técnica común en ataques reales para evitar bloqueos básicos.</a:t>
            </a:r>
          </a:p>
        </p:txBody>
      </p:sp>
      <p:pic>
        <p:nvPicPr>
          <p:cNvPr id="10242" name="Picture 2" descr="Hatsune Miku llega con su película Colorful Stage, ¿la vocaloid no puede  cantar? - Revulsión">
            <a:extLst>
              <a:ext uri="{FF2B5EF4-FFF2-40B4-BE49-F238E27FC236}">
                <a16:creationId xmlns:a16="http://schemas.microsoft.com/office/drawing/2014/main" id="{35DAB682-4538-CF45-C589-A5819E2FC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0117" y="5633035"/>
            <a:ext cx="2177715" cy="122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5983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76DAC-8E7C-7557-0E1E-372CF69B5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80EF2-922C-B2B6-6ED0-000B94C70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¿Cómo lo detectaría un EDR moderno?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C1F63-9348-9D71-7EE2-85203D6BF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717" y="2013995"/>
            <a:ext cx="10319084" cy="4162968"/>
          </a:xfrm>
        </p:spPr>
        <p:txBody>
          <a:bodyPr>
            <a:normAutofit fontScale="77500" lnSpcReduction="20000"/>
          </a:bodyPr>
          <a:lstStyle/>
          <a:p>
            <a:r>
              <a:rPr lang="es-MX" dirty="0"/>
              <a:t>Un sistema EDR podría detectar:</a:t>
            </a:r>
          </a:p>
          <a:p>
            <a:r>
              <a:rPr lang="es-MX" dirty="0"/>
              <a:t>Uso del parámetro -</a:t>
            </a:r>
            <a:r>
              <a:rPr lang="es-MX" dirty="0" err="1"/>
              <a:t>ExecutionPolicy</a:t>
            </a:r>
            <a:r>
              <a:rPr lang="es-MX" dirty="0"/>
              <a:t> Bypass</a:t>
            </a:r>
          </a:p>
          <a:p>
            <a:r>
              <a:rPr lang="es-MX" dirty="0"/>
              <a:t>Renombrado masivo de archivos en segundos</a:t>
            </a:r>
          </a:p>
          <a:p>
            <a:r>
              <a:rPr lang="es-MX" dirty="0" err="1"/>
              <a:t>Sobrescritura</a:t>
            </a:r>
            <a:r>
              <a:rPr lang="es-MX" dirty="0"/>
              <a:t> repetitiva de contenido</a:t>
            </a:r>
          </a:p>
          <a:p>
            <a:r>
              <a:rPr lang="es-MX" dirty="0"/>
              <a:t>Cambio rápido de entropía en archivos</a:t>
            </a:r>
          </a:p>
          <a:p>
            <a:r>
              <a:rPr lang="es-MX" dirty="0"/>
              <a:t>Comportamiento anómalo de PowerShell</a:t>
            </a:r>
          </a:p>
          <a:p>
            <a:r>
              <a:rPr lang="es-MX" dirty="0"/>
              <a:t>Los EDR modernos no solo usan firmas, sino:</a:t>
            </a:r>
          </a:p>
          <a:p>
            <a:r>
              <a:rPr lang="es-MX" dirty="0" err="1"/>
              <a:t>Behavioral</a:t>
            </a:r>
            <a:r>
              <a:rPr lang="es-MX" dirty="0"/>
              <a:t> </a:t>
            </a:r>
            <a:r>
              <a:rPr lang="es-MX" dirty="0" err="1"/>
              <a:t>analysis</a:t>
            </a:r>
            <a:endParaRPr lang="es-MX" dirty="0"/>
          </a:p>
          <a:p>
            <a:r>
              <a:rPr lang="es-MX" dirty="0"/>
              <a:t>Correlación de eventos</a:t>
            </a:r>
          </a:p>
          <a:p>
            <a:r>
              <a:rPr lang="es-MX" dirty="0"/>
              <a:t>Machine </a:t>
            </a:r>
            <a:r>
              <a:rPr lang="es-MX" dirty="0" err="1"/>
              <a:t>Learning</a:t>
            </a:r>
            <a:endParaRPr lang="es-MX" dirty="0"/>
          </a:p>
          <a:p>
            <a:r>
              <a:rPr lang="es-MX" dirty="0"/>
              <a:t>Detección de patrones anómalos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DC0B5-CFD3-61E0-C408-107C7875F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168" y="3495841"/>
            <a:ext cx="2602832" cy="347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046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12D71-1015-C7CA-7D1A-176980899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DA18C-2151-782B-AA91-C8DBB8B7F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y enseñanzas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A15F8-1EF6-22B5-948D-5AE2BE9FF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717" y="2013995"/>
            <a:ext cx="10319084" cy="4162968"/>
          </a:xfrm>
        </p:spPr>
        <p:txBody>
          <a:bodyPr>
            <a:normAutofit/>
          </a:bodyPr>
          <a:lstStyle/>
          <a:p>
            <a:r>
              <a:rPr lang="es-MX" dirty="0"/>
              <a:t>Esta práctica demuestra cómo, tras un acceso inicial exitoso, un atacante puede monetizar rápidamente el compromiso utilizando herramientas legítimas del sistema, dificultando la detección y aumentando el impacto operativo.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CBCD45-DA01-4E0F-5449-8DB3B7F035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4025" y="3644900"/>
            <a:ext cx="2847975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364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453</Words>
  <Application>Microsoft Office PowerPoint</Application>
  <PresentationFormat>Widescreen</PresentationFormat>
  <Paragraphs>54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Practica 03 Ramsonware</vt:lpstr>
      <vt:lpstr>Acceso Inicial Comprometido</vt:lpstr>
      <vt:lpstr>Preparación del Script de Ransomware</vt:lpstr>
      <vt:lpstr>Transferencia del Payload a la Víctima</vt:lpstr>
      <vt:lpstr>Ejecución con Evasión de Seguridad</vt:lpstr>
      <vt:lpstr>Secuestro Simulado de Archivos</vt:lpstr>
      <vt:lpstr>Generación de Nota de Rescate</vt:lpstr>
      <vt:lpstr>Evidencia Forense del Impacto</vt:lpstr>
      <vt:lpstr>Análisis Técnico</vt:lpstr>
      <vt:lpstr>Evasión mediante -ExecutionPolicy Bypass</vt:lpstr>
      <vt:lpstr>¿Cómo lo detectaría un EDR moderno?</vt:lpstr>
      <vt:lpstr>Conclusión y enseñanzas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Parra Hidalgo</dc:creator>
  <cp:lastModifiedBy>Jorge Parra Hidalgo</cp:lastModifiedBy>
  <cp:revision>5</cp:revision>
  <dcterms:created xsi:type="dcterms:W3CDTF">2026-02-19T00:34:21Z</dcterms:created>
  <dcterms:modified xsi:type="dcterms:W3CDTF">2026-02-19T01:57:28Z</dcterms:modified>
</cp:coreProperties>
</file>